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76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85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81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62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9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9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0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09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62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0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16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707B1-0E94-49EA-B84F-706DD21EFC4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F324-DA16-4B58-B8B3-894574329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87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/>
          <p:cNvSpPr/>
          <p:nvPr/>
        </p:nvSpPr>
        <p:spPr>
          <a:xfrm>
            <a:off x="136187" y="5642042"/>
            <a:ext cx="1186775" cy="121595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1</a:t>
            </a:r>
            <a:endParaRPr lang="en-IN" dirty="0"/>
          </a:p>
        </p:txBody>
      </p:sp>
      <p:sp>
        <p:nvSpPr>
          <p:cNvPr id="7" name="Can 6"/>
          <p:cNvSpPr/>
          <p:nvPr/>
        </p:nvSpPr>
        <p:spPr>
          <a:xfrm>
            <a:off x="136187" y="4354749"/>
            <a:ext cx="1186775" cy="1215957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2</a:t>
            </a:r>
            <a:endParaRPr lang="en-IN" dirty="0"/>
          </a:p>
        </p:txBody>
      </p:sp>
      <p:sp>
        <p:nvSpPr>
          <p:cNvPr id="8" name="Can 7"/>
          <p:cNvSpPr/>
          <p:nvPr/>
        </p:nvSpPr>
        <p:spPr>
          <a:xfrm>
            <a:off x="136187" y="2953966"/>
            <a:ext cx="1186775" cy="1215957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3</a:t>
            </a:r>
            <a:endParaRPr lang="en-IN" dirty="0"/>
          </a:p>
        </p:txBody>
      </p:sp>
      <p:sp>
        <p:nvSpPr>
          <p:cNvPr id="9" name="Can 8"/>
          <p:cNvSpPr/>
          <p:nvPr/>
        </p:nvSpPr>
        <p:spPr>
          <a:xfrm>
            <a:off x="136186" y="1553183"/>
            <a:ext cx="1186775" cy="1215957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4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322961" y="1741251"/>
            <a:ext cx="10869039" cy="9046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UI/UX Design – Web / Mobile User Interface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322961" y="3109608"/>
            <a:ext cx="10869039" cy="9370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Database 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322961" y="4510391"/>
            <a:ext cx="10869039" cy="9452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Data Processing 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322961" y="5781471"/>
            <a:ext cx="10869039" cy="9370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Sensor Data Ingestion</a:t>
            </a:r>
            <a:endParaRPr lang="en-IN" dirty="0"/>
          </a:p>
        </p:txBody>
      </p:sp>
      <p:sp>
        <p:nvSpPr>
          <p:cNvPr id="25" name="Rounded Rectangle 24"/>
          <p:cNvSpPr/>
          <p:nvPr/>
        </p:nvSpPr>
        <p:spPr>
          <a:xfrm>
            <a:off x="3784060" y="593387"/>
            <a:ext cx="5826868" cy="59338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 smtClean="0"/>
              <a:t>IoT Enterprise Architecture</a:t>
            </a:r>
          </a:p>
        </p:txBody>
      </p:sp>
    </p:spTree>
    <p:extLst>
      <p:ext uri="{BB962C8B-B14F-4D97-AF65-F5344CB8AC3E}">
        <p14:creationId xmlns:p14="http://schemas.microsoft.com/office/powerpoint/2010/main" val="79268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/>
          <p:cNvSpPr/>
          <p:nvPr/>
        </p:nvSpPr>
        <p:spPr>
          <a:xfrm>
            <a:off x="136187" y="5642042"/>
            <a:ext cx="1186775" cy="121595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1</a:t>
            </a:r>
            <a:endParaRPr lang="en-IN" dirty="0"/>
          </a:p>
        </p:txBody>
      </p:sp>
      <p:sp>
        <p:nvSpPr>
          <p:cNvPr id="7" name="Can 6"/>
          <p:cNvSpPr/>
          <p:nvPr/>
        </p:nvSpPr>
        <p:spPr>
          <a:xfrm>
            <a:off x="136187" y="4354749"/>
            <a:ext cx="1186775" cy="1215957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2</a:t>
            </a:r>
            <a:endParaRPr lang="en-IN" dirty="0"/>
          </a:p>
        </p:txBody>
      </p:sp>
      <p:sp>
        <p:nvSpPr>
          <p:cNvPr id="8" name="Can 7"/>
          <p:cNvSpPr/>
          <p:nvPr/>
        </p:nvSpPr>
        <p:spPr>
          <a:xfrm>
            <a:off x="136187" y="2953966"/>
            <a:ext cx="1186775" cy="1215957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3</a:t>
            </a:r>
            <a:endParaRPr lang="en-IN" dirty="0"/>
          </a:p>
        </p:txBody>
      </p:sp>
      <p:sp>
        <p:nvSpPr>
          <p:cNvPr id="9" name="Can 8"/>
          <p:cNvSpPr/>
          <p:nvPr/>
        </p:nvSpPr>
        <p:spPr>
          <a:xfrm>
            <a:off x="136186" y="1553183"/>
            <a:ext cx="1186775" cy="1215957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4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322961" y="1741251"/>
            <a:ext cx="10869039" cy="9046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Web / Mobile User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322961" y="3109608"/>
            <a:ext cx="10869039" cy="9370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Database Storage </a:t>
            </a:r>
          </a:p>
          <a:p>
            <a:r>
              <a:rPr lang="en-IN" dirty="0" smtClean="0"/>
              <a:t>(cloud/server)</a:t>
            </a:r>
          </a:p>
          <a:p>
            <a:r>
              <a:rPr lang="en-IN" dirty="0" smtClean="0"/>
              <a:t>Database In-memory(RAM) 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322961" y="4510391"/>
            <a:ext cx="10869039" cy="9452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Data Processing</a:t>
            </a:r>
          </a:p>
          <a:p>
            <a:endParaRPr lang="en-IN" dirty="0"/>
          </a:p>
          <a:p>
            <a:r>
              <a:rPr lang="en-IN" dirty="0" smtClean="0"/>
              <a:t>Data Streaming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322961" y="5781471"/>
            <a:ext cx="10869039" cy="9370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Data Ingestion</a:t>
            </a:r>
            <a:endParaRPr lang="en-IN" dirty="0"/>
          </a:p>
        </p:txBody>
      </p:sp>
      <p:sp>
        <p:nvSpPr>
          <p:cNvPr id="25" name="Rounded Rectangle 24"/>
          <p:cNvSpPr/>
          <p:nvPr/>
        </p:nvSpPr>
        <p:spPr>
          <a:xfrm>
            <a:off x="3505499" y="184825"/>
            <a:ext cx="5826868" cy="59338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KOSMOS - IoT Enterprise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2669" y="5996006"/>
            <a:ext cx="1338165" cy="5520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OPC-UA Pub/Sub</a:t>
            </a:r>
            <a:endParaRPr lang="en-IN" sz="1600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8978629" y="5994794"/>
            <a:ext cx="1507787" cy="561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Ethernet/IP</a:t>
            </a:r>
            <a:endParaRPr lang="en-IN" sz="16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2878072" y="6016552"/>
            <a:ext cx="1507787" cy="5398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Modbus TCP</a:t>
            </a:r>
            <a:endParaRPr lang="en-IN" sz="16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4510391" y="6004390"/>
            <a:ext cx="1083014" cy="5520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MQTT</a:t>
            </a:r>
            <a:endParaRPr lang="en-IN" sz="1600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5717937" y="6018029"/>
            <a:ext cx="1600200" cy="549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OPC-UA</a:t>
            </a:r>
          </a:p>
          <a:p>
            <a:pPr algn="ctr"/>
            <a:r>
              <a:rPr lang="en-IN" sz="1600" b="1" dirty="0" smtClean="0"/>
              <a:t>(client/server)</a:t>
            </a:r>
            <a:endParaRPr lang="en-IN" sz="1600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10585314" y="5991206"/>
            <a:ext cx="1507787" cy="561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Profinet (IRT)</a:t>
            </a:r>
            <a:endParaRPr lang="en-IN" sz="16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3002604" y="5136204"/>
            <a:ext cx="2154674" cy="31939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Apache kafka</a:t>
            </a:r>
            <a:endParaRPr lang="en-IN" sz="1600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5442625" y="5136204"/>
            <a:ext cx="2154676" cy="31939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NATS JetStream</a:t>
            </a:r>
            <a:endParaRPr lang="en-IN" sz="1600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3002603" y="4527481"/>
            <a:ext cx="2154675" cy="33602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Apache flink</a:t>
            </a:r>
            <a:endParaRPr lang="en-IN" sz="1600" b="1" dirty="0"/>
          </a:p>
        </p:txBody>
      </p:sp>
      <p:sp>
        <p:nvSpPr>
          <p:cNvPr id="29" name="Rounded Rectangle 28"/>
          <p:cNvSpPr/>
          <p:nvPr/>
        </p:nvSpPr>
        <p:spPr>
          <a:xfrm>
            <a:off x="3956389" y="3689992"/>
            <a:ext cx="1216368" cy="33602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 smtClean="0">
                <a:solidFill>
                  <a:srgbClr val="002060"/>
                </a:solidFill>
              </a:rPr>
              <a:t>Redis Cluster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57277" y="3120579"/>
            <a:ext cx="1914731" cy="49291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rgbClr val="002060"/>
                </a:solidFill>
              </a:rPr>
              <a:t>Apache IoT DB – Hot</a:t>
            </a:r>
          </a:p>
          <a:p>
            <a:pPr algn="ctr"/>
            <a:r>
              <a:rPr lang="en-IN" sz="1400" b="1" dirty="0" smtClean="0">
                <a:solidFill>
                  <a:srgbClr val="002060"/>
                </a:solidFill>
              </a:rPr>
              <a:t>Raw/Processed Data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197046" y="3149455"/>
            <a:ext cx="2186903" cy="3388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rgbClr val="002060"/>
                </a:solidFill>
              </a:rPr>
              <a:t>ClickHouse - Warm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197046" y="3597127"/>
            <a:ext cx="2186903" cy="33781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rgbClr val="002060"/>
                </a:solidFill>
              </a:rPr>
              <a:t>Cloud bucket - Cold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197047" y="2188724"/>
            <a:ext cx="2186902" cy="4572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Apache Spark – Analytic Query &gt;=30days</a:t>
            </a:r>
            <a:endParaRPr lang="en-IN" sz="1400" b="1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7675123" y="2645923"/>
            <a:ext cx="0" cy="463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8780834" y="2659360"/>
            <a:ext cx="1" cy="4340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92550" y="2663537"/>
            <a:ext cx="203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smtClean="0"/>
              <a:t>Request                  Report</a:t>
            </a:r>
            <a:endParaRPr lang="en-IN" sz="1400" b="1" dirty="0"/>
          </a:p>
        </p:txBody>
      </p:sp>
      <p:sp>
        <p:nvSpPr>
          <p:cNvPr id="36" name="Rounded Rectangle 35"/>
          <p:cNvSpPr/>
          <p:nvPr/>
        </p:nvSpPr>
        <p:spPr>
          <a:xfrm>
            <a:off x="3631965" y="2180196"/>
            <a:ext cx="1439799" cy="4572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Dashboard Live Data</a:t>
            </a:r>
            <a:endParaRPr lang="en-IN" sz="1400" b="1" dirty="0"/>
          </a:p>
        </p:txBody>
      </p:sp>
      <p:sp>
        <p:nvSpPr>
          <p:cNvPr id="37" name="Rounded Rectangle 36"/>
          <p:cNvSpPr/>
          <p:nvPr/>
        </p:nvSpPr>
        <p:spPr>
          <a:xfrm>
            <a:off x="5157278" y="2175719"/>
            <a:ext cx="1914731" cy="4572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Dashboard Historical Data &lt;30 days</a:t>
            </a:r>
            <a:endParaRPr lang="en-IN" sz="1400" b="1" dirty="0"/>
          </a:p>
        </p:txBody>
      </p:sp>
      <p:cxnSp>
        <p:nvCxnSpPr>
          <p:cNvPr id="39" name="Straight Arrow Connector 38"/>
          <p:cNvCxnSpPr>
            <a:endCxn id="36" idx="2"/>
          </p:cNvCxnSpPr>
          <p:nvPr/>
        </p:nvCxnSpPr>
        <p:spPr>
          <a:xfrm flipV="1">
            <a:off x="4351864" y="2637396"/>
            <a:ext cx="1" cy="102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56292" y="2663537"/>
            <a:ext cx="1801232" cy="306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smtClean="0">
                <a:latin typeface="Corbel" panose="020B0503020204020204" pitchFamily="34" charset="0"/>
              </a:rPr>
              <a:t>Request          Report</a:t>
            </a:r>
            <a:endParaRPr lang="en-IN" sz="1400" b="1" dirty="0">
              <a:latin typeface="Corbel" panose="020B0503020204020204" pitchFamily="34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6418933" y="2653290"/>
            <a:ext cx="1" cy="495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5640820" y="2714947"/>
            <a:ext cx="0" cy="408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694524" y="3161289"/>
            <a:ext cx="2186902" cy="32700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rgbClr val="002060"/>
                </a:solidFill>
              </a:rPr>
              <a:t>PostgreSQL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694523" y="2180196"/>
            <a:ext cx="2186902" cy="4572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User-</a:t>
            </a:r>
            <a:r>
              <a:rPr lang="en-IN" sz="1400" b="1" dirty="0" err="1" smtClean="0"/>
              <a:t>Config</a:t>
            </a:r>
            <a:r>
              <a:rPr lang="en-IN" sz="1400" b="1" dirty="0" smtClean="0"/>
              <a:t>/ Device </a:t>
            </a:r>
            <a:r>
              <a:rPr lang="en-IN" sz="1400" b="1" dirty="0" err="1" smtClean="0"/>
              <a:t>Config</a:t>
            </a:r>
            <a:r>
              <a:rPr lang="en-IN" sz="1400" b="1" dirty="0" smtClean="0"/>
              <a:t> / Alerts / Audit log</a:t>
            </a:r>
            <a:endParaRPr lang="en-IN" sz="1400" b="1" dirty="0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10238361" y="2642713"/>
            <a:ext cx="0" cy="463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11344072" y="2656150"/>
            <a:ext cx="1" cy="4340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945321" y="2680102"/>
            <a:ext cx="2254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/>
              <a:t>Request                  </a:t>
            </a:r>
            <a:r>
              <a:rPr lang="en-IN" sz="1400" b="1" dirty="0" smtClean="0"/>
              <a:t>Response</a:t>
            </a:r>
          </a:p>
          <a:p>
            <a:r>
              <a:rPr lang="en-IN" sz="1400" b="1" dirty="0" smtClean="0"/>
              <a:t>Write/Update              Read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8480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/>
          <p:cNvSpPr/>
          <p:nvPr/>
        </p:nvSpPr>
        <p:spPr>
          <a:xfrm>
            <a:off x="128399" y="4780395"/>
            <a:ext cx="1186775" cy="121595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1</a:t>
            </a:r>
            <a:endParaRPr lang="en-IN" dirty="0"/>
          </a:p>
        </p:txBody>
      </p:sp>
      <p:sp>
        <p:nvSpPr>
          <p:cNvPr id="25" name="Rounded Rectangle 24"/>
          <p:cNvSpPr/>
          <p:nvPr/>
        </p:nvSpPr>
        <p:spPr>
          <a:xfrm>
            <a:off x="3505499" y="184825"/>
            <a:ext cx="5826868" cy="59338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KOSMOS - IoT Enterprise Architecture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6187" y="691537"/>
            <a:ext cx="12064111" cy="5165386"/>
            <a:chOff x="136186" y="1553183"/>
            <a:chExt cx="12064111" cy="5165386"/>
          </a:xfrm>
        </p:grpSpPr>
        <p:sp>
          <p:nvSpPr>
            <p:cNvPr id="7" name="Can 6"/>
            <p:cNvSpPr/>
            <p:nvPr/>
          </p:nvSpPr>
          <p:spPr>
            <a:xfrm>
              <a:off x="136187" y="4354749"/>
              <a:ext cx="1186775" cy="1215957"/>
            </a:xfrm>
            <a:prstGeom prst="ca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Layer 2</a:t>
              </a:r>
              <a:endParaRPr lang="en-IN" dirty="0"/>
            </a:p>
          </p:txBody>
        </p:sp>
        <p:sp>
          <p:nvSpPr>
            <p:cNvPr id="8" name="Can 7"/>
            <p:cNvSpPr/>
            <p:nvPr/>
          </p:nvSpPr>
          <p:spPr>
            <a:xfrm>
              <a:off x="136187" y="2953966"/>
              <a:ext cx="1186775" cy="1215957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Layer 3</a:t>
              </a:r>
              <a:endParaRPr lang="en-IN" dirty="0"/>
            </a:p>
          </p:txBody>
        </p:sp>
        <p:sp>
          <p:nvSpPr>
            <p:cNvPr id="9" name="Can 8"/>
            <p:cNvSpPr/>
            <p:nvPr/>
          </p:nvSpPr>
          <p:spPr>
            <a:xfrm>
              <a:off x="136186" y="1553183"/>
              <a:ext cx="1186775" cy="1215957"/>
            </a:xfrm>
            <a:prstGeom prst="can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Layer 4</a:t>
              </a:r>
              <a:endParaRPr lang="en-IN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22961" y="1741251"/>
              <a:ext cx="10869039" cy="9046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dirty="0" smtClean="0"/>
                <a:t>Web / Mobile User</a:t>
              </a:r>
              <a:endParaRPr lang="en-IN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22961" y="3109608"/>
              <a:ext cx="10869039" cy="9370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dirty="0" smtClean="0"/>
                <a:t>Database Storage </a:t>
              </a:r>
            </a:p>
            <a:p>
              <a:r>
                <a:rPr lang="en-IN" dirty="0" smtClean="0"/>
                <a:t>(cloud/server)</a:t>
              </a:r>
            </a:p>
            <a:p>
              <a:r>
                <a:rPr lang="en-IN" dirty="0" smtClean="0"/>
                <a:t>Database In-memory(RAM) </a:t>
              </a:r>
              <a:endParaRPr lang="en-IN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322961" y="4510391"/>
              <a:ext cx="10869039" cy="94520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dirty="0" smtClean="0"/>
                <a:t>Data Processing</a:t>
              </a:r>
            </a:p>
            <a:p>
              <a:endParaRPr lang="en-IN" dirty="0"/>
            </a:p>
            <a:p>
              <a:r>
                <a:rPr lang="en-IN" dirty="0" smtClean="0"/>
                <a:t>Data Streaming</a:t>
              </a:r>
              <a:endParaRPr lang="en-IN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322961" y="5781471"/>
              <a:ext cx="10869039" cy="93709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dirty="0" smtClean="0"/>
                <a:t>Data Ingestion</a:t>
              </a:r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42669" y="5996006"/>
              <a:ext cx="1338165" cy="55204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OPC-UA Pub/Sub</a:t>
              </a:r>
              <a:endParaRPr lang="en-IN" sz="1600" b="1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978629" y="5994794"/>
              <a:ext cx="1507787" cy="56164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Ethernet/IP</a:t>
              </a:r>
              <a:endParaRPr lang="en-IN" sz="1600" b="1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878072" y="6016552"/>
              <a:ext cx="1507787" cy="5398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Modbus TCP</a:t>
              </a:r>
              <a:endParaRPr lang="en-IN" sz="1600" b="1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510391" y="6004390"/>
              <a:ext cx="1083014" cy="55204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MQTT</a:t>
              </a:r>
              <a:endParaRPr lang="en-IN" sz="1600" b="1"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17937" y="6018029"/>
              <a:ext cx="1600200" cy="5496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OPC-UA</a:t>
              </a:r>
            </a:p>
            <a:p>
              <a:pPr algn="ctr"/>
              <a:r>
                <a:rPr lang="en-IN" sz="1600" b="1" dirty="0" smtClean="0"/>
                <a:t>(client/server)</a:t>
              </a:r>
              <a:endParaRPr lang="en-IN" sz="1600" b="1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585314" y="5991206"/>
              <a:ext cx="1507787" cy="56164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Profinet (IRT)</a:t>
              </a:r>
              <a:endParaRPr lang="en-IN" sz="1600" b="1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002604" y="5136204"/>
              <a:ext cx="2154674" cy="319391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Apache kafka</a:t>
              </a:r>
              <a:endParaRPr lang="en-IN" sz="1600" b="1" dirty="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442625" y="5136204"/>
              <a:ext cx="2154676" cy="319391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NATS JetStream</a:t>
              </a:r>
              <a:endParaRPr lang="en-IN" sz="1600" b="1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002603" y="4527481"/>
              <a:ext cx="2154675" cy="336027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/>
                <a:t>Apache flink</a:t>
              </a:r>
              <a:endParaRPr lang="en-IN" sz="1600" b="1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956389" y="3689992"/>
              <a:ext cx="1216368" cy="336027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b="1" dirty="0" smtClean="0">
                  <a:solidFill>
                    <a:srgbClr val="002060"/>
                  </a:solidFill>
                </a:rPr>
                <a:t>Redis Cluster</a:t>
              </a:r>
              <a:endParaRPr lang="en-IN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157277" y="3120579"/>
              <a:ext cx="1914731" cy="49291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002060"/>
                  </a:solidFill>
                </a:rPr>
                <a:t>Apache IoT DB – Hot</a:t>
              </a:r>
            </a:p>
            <a:p>
              <a:pPr algn="ctr"/>
              <a:r>
                <a:rPr lang="en-IN" sz="1400" b="1" dirty="0" smtClean="0">
                  <a:solidFill>
                    <a:srgbClr val="002060"/>
                  </a:solidFill>
                </a:rPr>
                <a:t>Raw/Processed Data</a:t>
              </a:r>
              <a:endParaRPr lang="en-IN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197046" y="3149455"/>
              <a:ext cx="2186903" cy="338836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002060"/>
                  </a:solidFill>
                </a:rPr>
                <a:t>ClickHouse - Warm</a:t>
              </a:r>
              <a:endParaRPr lang="en-IN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197046" y="3597127"/>
              <a:ext cx="2186903" cy="337815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002060"/>
                  </a:solidFill>
                </a:rPr>
                <a:t>Cloud bucket - Cold</a:t>
              </a:r>
              <a:endParaRPr lang="en-IN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197047" y="2188724"/>
              <a:ext cx="2186902" cy="45720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/>
                <a:t>Apache Spark – Analytic Query &gt;=30days</a:t>
              </a:r>
              <a:endParaRPr lang="en-IN" sz="1400" b="1" dirty="0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>
              <a:off x="7675123" y="2645923"/>
              <a:ext cx="0" cy="46368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 flipV="1">
              <a:off x="8780834" y="2659360"/>
              <a:ext cx="1" cy="4340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7392550" y="2663537"/>
              <a:ext cx="20303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smtClean="0"/>
                <a:t>Request                  Report</a:t>
              </a:r>
              <a:endParaRPr lang="en-IN" sz="1400" b="1" dirty="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631965" y="2180196"/>
              <a:ext cx="1439799" cy="4572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/>
                <a:t>Dashboard Live Data</a:t>
              </a:r>
              <a:endParaRPr lang="en-IN" sz="1400" b="1" dirty="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157278" y="2175719"/>
              <a:ext cx="1914731" cy="4572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/>
                <a:t>Dashboard Historical Data &lt;30 days</a:t>
              </a:r>
              <a:endParaRPr lang="en-IN" sz="1400" b="1" dirty="0"/>
            </a:p>
          </p:txBody>
        </p:sp>
        <p:cxnSp>
          <p:nvCxnSpPr>
            <p:cNvPr id="39" name="Straight Arrow Connector 38"/>
            <p:cNvCxnSpPr>
              <a:endCxn id="36" idx="2"/>
            </p:cNvCxnSpPr>
            <p:nvPr/>
          </p:nvCxnSpPr>
          <p:spPr>
            <a:xfrm flipV="1">
              <a:off x="4351864" y="2637396"/>
              <a:ext cx="1" cy="10232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356292" y="2663537"/>
              <a:ext cx="1801232" cy="306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smtClean="0">
                  <a:latin typeface="Corbel" panose="020B0503020204020204" pitchFamily="34" charset="0"/>
                </a:rPr>
                <a:t>Request          Report</a:t>
              </a:r>
              <a:endParaRPr lang="en-IN" sz="1400" b="1" dirty="0">
                <a:latin typeface="Corbel" panose="020B0503020204020204" pitchFamily="34" charset="0"/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6418933" y="2653290"/>
              <a:ext cx="1" cy="49572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5640820" y="2714947"/>
              <a:ext cx="0" cy="4084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9694524" y="3161289"/>
              <a:ext cx="2186902" cy="32700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002060"/>
                  </a:solidFill>
                </a:rPr>
                <a:t>PostgreSQL</a:t>
              </a:r>
              <a:endParaRPr lang="en-IN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694523" y="2180196"/>
              <a:ext cx="2186902" cy="45720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/>
                <a:t>User-</a:t>
              </a:r>
              <a:r>
                <a:rPr lang="en-IN" sz="1400" b="1" dirty="0" err="1" smtClean="0"/>
                <a:t>Config</a:t>
              </a:r>
              <a:r>
                <a:rPr lang="en-IN" sz="1400" b="1" dirty="0" smtClean="0"/>
                <a:t>/ Device </a:t>
              </a:r>
              <a:r>
                <a:rPr lang="en-IN" sz="1400" b="1" dirty="0" err="1" smtClean="0"/>
                <a:t>Config</a:t>
              </a:r>
              <a:r>
                <a:rPr lang="en-IN" sz="1400" b="1" dirty="0" smtClean="0"/>
                <a:t> / Alerts / Audit log</a:t>
              </a:r>
              <a:endParaRPr lang="en-IN" sz="1400" b="1" dirty="0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10238361" y="2642713"/>
              <a:ext cx="0" cy="46368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 flipV="1">
              <a:off x="11344072" y="2656150"/>
              <a:ext cx="1" cy="4340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9945321" y="2680102"/>
              <a:ext cx="22549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/>
                <a:t>Request                  </a:t>
              </a:r>
              <a:r>
                <a:rPr lang="en-IN" sz="1400" b="1" dirty="0" smtClean="0"/>
                <a:t>Response</a:t>
              </a:r>
            </a:p>
            <a:p>
              <a:r>
                <a:rPr lang="en-IN" sz="1400" b="1" dirty="0" smtClean="0"/>
                <a:t>Write/Update              Read</a:t>
              </a:r>
              <a:endParaRPr lang="en-IN" sz="1400" b="1" dirty="0"/>
            </a:p>
          </p:txBody>
        </p:sp>
      </p:grpSp>
      <p:sp>
        <p:nvSpPr>
          <p:cNvPr id="40" name="Can 39"/>
          <p:cNvSpPr/>
          <p:nvPr/>
        </p:nvSpPr>
        <p:spPr>
          <a:xfrm>
            <a:off x="136187" y="6057961"/>
            <a:ext cx="1186775" cy="800038"/>
          </a:xfrm>
          <a:prstGeom prst="ca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Layer 0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1315174" y="6144697"/>
            <a:ext cx="10869039" cy="6265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Data Aggregator / Gateway Device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25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3723" y="373568"/>
            <a:ext cx="1253247" cy="1325563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 smtClean="0"/>
              <a:t>Layer 1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1536971" y="525294"/>
            <a:ext cx="10655030" cy="1057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smtClean="0"/>
              <a:t>Data Ingestion – Protocol </a:t>
            </a:r>
            <a:r>
              <a:rPr lang="en-IN" dirty="0" err="1" smtClean="0"/>
              <a:t>Comparision</a:t>
            </a: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397297"/>
              </p:ext>
            </p:extLst>
          </p:nvPr>
        </p:nvGraphicFramePr>
        <p:xfrm>
          <a:off x="283723" y="2052356"/>
          <a:ext cx="11691024" cy="426124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53247">
                  <a:extLst>
                    <a:ext uri="{9D8B030D-6E8A-4147-A177-3AD203B41FA5}">
                      <a16:colId xmlns:a16="http://schemas.microsoft.com/office/drawing/2014/main" val="3148084612"/>
                    </a:ext>
                  </a:extLst>
                </a:gridCol>
                <a:gridCol w="1410511">
                  <a:extLst>
                    <a:ext uri="{9D8B030D-6E8A-4147-A177-3AD203B41FA5}">
                      <a16:colId xmlns:a16="http://schemas.microsoft.com/office/drawing/2014/main" val="626495956"/>
                    </a:ext>
                  </a:extLst>
                </a:gridCol>
                <a:gridCol w="1196502">
                  <a:extLst>
                    <a:ext uri="{9D8B030D-6E8A-4147-A177-3AD203B41FA5}">
                      <a16:colId xmlns:a16="http://schemas.microsoft.com/office/drawing/2014/main" val="746312740"/>
                    </a:ext>
                  </a:extLst>
                </a:gridCol>
                <a:gridCol w="1468877">
                  <a:extLst>
                    <a:ext uri="{9D8B030D-6E8A-4147-A177-3AD203B41FA5}">
                      <a16:colId xmlns:a16="http://schemas.microsoft.com/office/drawing/2014/main" val="2706489422"/>
                    </a:ext>
                  </a:extLst>
                </a:gridCol>
                <a:gridCol w="1410510">
                  <a:extLst>
                    <a:ext uri="{9D8B030D-6E8A-4147-A177-3AD203B41FA5}">
                      <a16:colId xmlns:a16="http://schemas.microsoft.com/office/drawing/2014/main" val="3685548755"/>
                    </a:ext>
                  </a:extLst>
                </a:gridCol>
                <a:gridCol w="1439694">
                  <a:extLst>
                    <a:ext uri="{9D8B030D-6E8A-4147-A177-3AD203B41FA5}">
                      <a16:colId xmlns:a16="http://schemas.microsoft.com/office/drawing/2014/main" val="3819844743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783650730"/>
                    </a:ext>
                  </a:extLst>
                </a:gridCol>
                <a:gridCol w="1050588">
                  <a:extLst>
                    <a:ext uri="{9D8B030D-6E8A-4147-A177-3AD203B41FA5}">
                      <a16:colId xmlns:a16="http://schemas.microsoft.com/office/drawing/2014/main" val="2421982769"/>
                    </a:ext>
                  </a:extLst>
                </a:gridCol>
                <a:gridCol w="1245138">
                  <a:extLst>
                    <a:ext uri="{9D8B030D-6E8A-4147-A177-3AD203B41FA5}">
                      <a16:colId xmlns:a16="http://schemas.microsoft.com/office/drawing/2014/main" val="217714324"/>
                    </a:ext>
                  </a:extLst>
                </a:gridCol>
              </a:tblGrid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Protocol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Usecase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Security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Datamodel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Data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baseline="0" dirty="0" err="1" smtClean="0"/>
                        <a:t>Freq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Max Data Rate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Max Data Size/Register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Round Trip Time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Latency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958891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Modbus TCP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Sensors/Meters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No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Simple registers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1-100Hz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 Mbps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125 registers</a:t>
                      </a:r>
                      <a:r>
                        <a:rPr lang="en-IN" sz="1400" baseline="0" dirty="0" smtClean="0"/>
                        <a:t>   </a:t>
                      </a:r>
                    </a:p>
                    <a:p>
                      <a:r>
                        <a:rPr lang="en-IN" sz="1400" baseline="0" dirty="0" smtClean="0"/>
                        <a:t>(250 bytes)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2-10ms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1-5ms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637313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MQTT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IoT Cloud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Yes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Topic-based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1-100Hz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Network dependent (100Mbps)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Upto</a:t>
                      </a:r>
                      <a:r>
                        <a:rPr lang="en-IN" sz="1400" dirty="0" smtClean="0"/>
                        <a:t> 256MB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10-50ms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5-30ms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485920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OPC-UA</a:t>
                      </a:r>
                    </a:p>
                    <a:p>
                      <a:r>
                        <a:rPr lang="en-IN" sz="1400" dirty="0" smtClean="0"/>
                        <a:t>(client/server)</a:t>
                      </a:r>
                      <a:endParaRPr lang="en-IN" sz="1400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sz="1400" dirty="0" smtClean="0"/>
                        <a:t>Industrial Integration</a:t>
                      </a:r>
                      <a:endParaRPr lang="en-IN" sz="1400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sz="1400" dirty="0" smtClean="0"/>
                        <a:t>Yes</a:t>
                      </a:r>
                      <a:endParaRPr lang="en-IN" sz="1400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sz="1400" dirty="0" smtClean="0"/>
                        <a:t>Structured-Object oriented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1-200Hz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10-100 Mbps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64 KB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5-20ms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3-10ms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93938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OPC-UA</a:t>
                      </a:r>
                    </a:p>
                    <a:p>
                      <a:r>
                        <a:rPr lang="en-IN" sz="1400" dirty="0" smtClean="0"/>
                        <a:t>(pub/sub)</a:t>
                      </a:r>
                      <a:endParaRPr lang="en-IN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Upto</a:t>
                      </a:r>
                      <a:r>
                        <a:rPr lang="en-IN" sz="1400" baseline="0" dirty="0" smtClean="0"/>
                        <a:t> 1kHz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 Mbps</a:t>
                      </a:r>
                      <a:r>
                        <a:rPr lang="en-IN" sz="1400" baseline="0" dirty="0" smtClean="0"/>
                        <a:t> – 1Gbps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Upto</a:t>
                      </a:r>
                      <a:r>
                        <a:rPr lang="en-IN" sz="1400" dirty="0" smtClean="0"/>
                        <a:t> 1MB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&lt;2ms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&lt;1ms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457466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Ethernet IP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PLC Control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Limited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CIP Model – object oriented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100-1000Hz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 Mbps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1500 bytes/frame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1-10ms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1-5ms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063596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Profinet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Factory Automation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Limited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Device Model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1-4kHz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 Mbps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1440 bytes/frame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&lt;1ms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250us-1ms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52595"/>
                  </a:ext>
                </a:extLst>
              </a:tr>
              <a:tr h="420766"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47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68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26" y="1135181"/>
            <a:ext cx="8390347" cy="45876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826" y="2460744"/>
            <a:ext cx="7544454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8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915" y="1058974"/>
            <a:ext cx="9800169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7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352</Words>
  <Application>Microsoft Office PowerPoint</Application>
  <PresentationFormat>Widescreen</PresentationFormat>
  <Paragraphs>150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Layer 1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ECT1</dc:creator>
  <cp:lastModifiedBy>ECT1</cp:lastModifiedBy>
  <cp:revision>14</cp:revision>
  <dcterms:created xsi:type="dcterms:W3CDTF">2026-03-16T07:46:53Z</dcterms:created>
  <dcterms:modified xsi:type="dcterms:W3CDTF">2026-03-16T13:28:37Z</dcterms:modified>
</cp:coreProperties>
</file>